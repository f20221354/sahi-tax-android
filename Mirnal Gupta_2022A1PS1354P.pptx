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0"/>
            <a:ext cx="54864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2026</a:t>
            </a:r>
            <a:endParaRPr lang="en-US" sz="1100" dirty="0"/>
          </a:p>
        </p:txBody>
      </p:sp>
      <p:pic>
        <p:nvPicPr>
          <p:cNvPr id="5" name="Image 0" descr="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31720"/>
            <a:ext cx="5486400" cy="14250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89391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 Tax Optimizer for retail investors.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39683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tax-loss harvesting for the 1.5 crore Indians filing ITR-2.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Mirnal Gupta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BITS Pilani  ·  Zupee Thesis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 is an AI tax optimizer that automatically finds and executes Tax-Loss Harvesting (TLH) for retail Indian investors — a SEBI-compliant ₹2-5L/year service that HNIs use, but 99% of retail has never heard of.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21.6 crore demat accounts; 1.5 crore file ITR-2 with capital gains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ITR-2 filings grew +34.69% YoY in FY 2024-25 — fastest in India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74 of IT Act allows 8-year loss carry-forward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Aggregator framework now live across all major brokers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cost has collapsed 100x — first time TLH is buildable at 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gap: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retail don't know TLH exists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complexity: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8-year carry-forward state, 3 brokers, FIFO sequencing — humans give 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failure: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file in July; March 31 window is gone by then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at a loss feels bad — even when it saves real money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gap: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 Services (PMS) firms charge ₹5L+/year. Retail can't afford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377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Booked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2793492"/>
            <a:ext cx="0" cy="128016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2953512"/>
            <a:ext cx="2377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953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Loss Harvest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3461004"/>
            <a:ext cx="0" cy="128016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3621024"/>
            <a:ext cx="2377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6210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 Owed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4128516"/>
            <a:ext cx="0" cy="128016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4288536"/>
            <a:ext cx="2377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42885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Yearly Loss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4796028"/>
            <a:ext cx="0" cy="128016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43600" y="4956048"/>
            <a:ext cx="2377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956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Compounds Slower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0" y="23317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deterministically 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saves ₹8K+/yr with no market risk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8-year carry-forward bank 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harvest builds a tax asset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Behaviorally lazy 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taps a year, not daily engagement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ritual built-in 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+ July = natural retention loops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playbook 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every ITR-2 filer in India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awareness + execution gap is the fastest, cheapest lever to put real money back in retail investors' pockets.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HNIs do every March. What retail has never heard 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" y="1828800"/>
            <a:ext cx="370332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057400"/>
            <a:ext cx="155448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</a:t>
            </a:r>
            <a:endParaRPr lang="en-US" sz="900" dirty="0"/>
          </a:p>
        </p:txBody>
      </p:sp>
      <p:pic>
        <p:nvPicPr>
          <p:cNvPr id="9" name="Image 0" descr="avatar_wealt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9192" y="2011680"/>
            <a:ext cx="778428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₹2-5L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71500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500" y="4160520"/>
            <a:ext cx="3246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4297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HNIs save through tax-loss harvesting via PMS firms.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29100" y="1828800"/>
            <a:ext cx="370332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57700" y="2057400"/>
            <a:ext cx="155448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577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900" dirty="0"/>
          </a:p>
        </p:txBody>
      </p:sp>
      <p:pic>
        <p:nvPicPr>
          <p:cNvPr id="17" name="Image 1" descr="avatar_comm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215" y="2011680"/>
            <a:ext cx="618605" cy="868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770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4800" dirty="0"/>
          </a:p>
        </p:txBody>
      </p:sp>
      <p:sp>
        <p:nvSpPr>
          <p:cNvPr id="19" name="Text 15"/>
          <p:cNvSpPr/>
          <p:nvPr/>
        </p:nvSpPr>
        <p:spPr>
          <a:xfrm>
            <a:off x="4457700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57700" y="4160520"/>
            <a:ext cx="3246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57700" y="4297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99% of retail investors save. Most don't know TLH exists.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15300" y="1828800"/>
            <a:ext cx="370332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343900" y="2057400"/>
            <a:ext cx="155448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3439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</a:t>
            </a:r>
            <a:endParaRPr lang="en-US" sz="900" dirty="0"/>
          </a:p>
        </p:txBody>
      </p:sp>
      <p:pic>
        <p:nvPicPr>
          <p:cNvPr id="25" name="Image 2" descr="avatar_was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079" y="2011680"/>
            <a:ext cx="553941" cy="8686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4390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₹1.8L cr</a:t>
            </a:r>
            <a:endParaRPr lang="en-US" sz="4800" dirty="0"/>
          </a:p>
        </p:txBody>
      </p:sp>
      <p:sp>
        <p:nvSpPr>
          <p:cNvPr id="27" name="Text 22"/>
          <p:cNvSpPr/>
          <p:nvPr/>
        </p:nvSpPr>
        <p:spPr>
          <a:xfrm>
            <a:off x="8343900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FY22-24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343900" y="4160520"/>
            <a:ext cx="3246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43900" y="4297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F&amp;O losses (SEBI). Almost none claimed as carry-forward.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0080" y="5486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'service available to rich, missing for masses' gap in Indian finance.
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 Indians have access to tax-loss harvesting via family offices and PMS firms. The other 14 crore investors don't even know it's legal — let alone how to do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nobody else is building this.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earn from your trades.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file once a year, in July.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74 of the Income Tax Act sits in the law books — useless without daily AI monitoring.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structurally aligned with the retail investor on tax.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960120" cy="365760"/>
          </a:xfrm>
          <a:prstGeom prst="rect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669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5669280"/>
            <a:ext cx="960120" cy="365760"/>
          </a:xfrm>
          <a:prstGeom prst="rect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669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5669280"/>
            <a:ext cx="960120" cy="365760"/>
          </a:xfrm>
          <a:prstGeom prst="rect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5669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5669280"/>
            <a:ext cx="960120" cy="365760"/>
          </a:xfrm>
          <a:prstGeom prst="rect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5669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5669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Paid to make you transact or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6172200"/>
            <a:ext cx="15361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172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76272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Paid only when we save you tax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  ◆  TAX SAVED PER USER PER YEAR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tax savings per user directly proves Sahi Tax pays for itself many times over — without any market risk. It compounds with portfolio growth, drives word-of-mouth (₹X-saved is the most shareable claim in Indian fintech), and creates predictable yearly retention loops anchored to ITR season.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70408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Saved / User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₹ saved through harvested losses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Direct, deterministic ROI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Carry-Forward Banked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balance carried into future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 tax asset over 8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 Conversion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flagged opportunities executed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signal — do users act on alerts?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Conversion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users → ₹499/yr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Monetization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March-Madness Shares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Saved Cards shared on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coefficient — zero-CAC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377440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TAX SAVED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829800" y="2884932"/>
            <a:ext cx="0" cy="118872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863840" y="3044952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044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TRUST 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829800" y="3552444"/>
            <a:ext cx="0" cy="118872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63840" y="3712464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7124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UPGRADE TO PREMIUM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829800" y="4219956"/>
            <a:ext cx="0" cy="118872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863840" y="4379976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43799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PAYS FOR FREE TIER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829800" y="4887468"/>
            <a:ext cx="0" cy="118872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863840" y="5047488"/>
            <a:ext cx="3931920" cy="502920"/>
          </a:xfrm>
          <a:prstGeom prst="rect">
            <a:avLst/>
          </a:prstGeom>
          <a:solidFill>
            <a:srgbClr val="0F766E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5047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100MN ADOPTION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saved is the only fintech metric that's deterministic, falsifiable, and shareable. That's why it's our north star.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Liquidator — the 4-step user flow.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portfolio connection to ITR-ready report in four screens. Built for the salaried Indian who has 3 minutes, not 3 hours.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86017" y="1463040"/>
            <a:ext cx="8389485" cy="4343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pic>
        <p:nvPicPr>
          <p:cNvPr id="7" name="Image 0" descr="wireframe_flow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457" y="1554480"/>
            <a:ext cx="8206605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→ Select → Generate → File. </a:t>
            </a:r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shows progress (Step X / 4). Every step explains the trade-off in plain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Connection — 3 Viable Methods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Sahi Tax actually pulls a user's holdings. Layered by friction, coverage, and regulatory load.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" y="1554480"/>
            <a:ext cx="3703320" cy="4434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" y="1737360"/>
            <a:ext cx="137160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345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DAY 1 LAUNCH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5780" y="2103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PDF Upload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Account Statement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" y="288036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" y="29718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" y="31821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downloads CAS from NSDL/CAMS/KFintech (free monthly email). Upload via drag-drop. We parse using pdfplumber + standardized regex.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" y="4160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59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— every demat 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5900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30 sec drag-drop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" y="4745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5900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user shares own document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" y="5120640"/>
            <a:ext cx="3337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" y="51663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CATCH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" y="5376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up to 30 days stale. Solution: combine with live NSE/BSE price feed.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29100" y="1554480"/>
            <a:ext cx="3703320" cy="4434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1980" y="1737360"/>
            <a:ext cx="137160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19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207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ROLLOUT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11980" y="2103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Aggregator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1198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Sahamati / RBI framework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11980" y="288036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1980" y="29718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11980" y="31821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AA partner (Finvu/OneMoney). One OTP authorizes. AA pulls from Zerodha, ICICI, AMCs, etc. continuously. RBI-regulated, encrypted, revocable.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11980" y="4160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21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+ MF + bank + insurance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1198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72100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1 OTP, no upload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11980" y="4745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72100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FIU registration via SEBI RIA partner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11980" y="5120640"/>
            <a:ext cx="3337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3420" y="51663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CATCH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03420" y="5376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Cannot execute trades. Costs ~₹5-15 per consent pull at scale.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15300" y="1554480"/>
            <a:ext cx="3703320" cy="4434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98180" y="1737360"/>
            <a:ext cx="137160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981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069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 ROADMAP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98180" y="2103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Broker APIs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29818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Kite Connect, Upstox, ICICI Breeze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98180" y="288036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8180" y="29718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98180" y="31821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flow per broker. User logs in via broker portal. Token grants both read AND execute permissions. One integration per broker.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98180" y="4160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583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live execution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29818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258300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OAuth per broker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98180" y="4745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58300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RIA license needed (₹3-5L, 4-6 months)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98180" y="5120640"/>
            <a:ext cx="3337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89620" y="51663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CATCH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89620" y="5376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broker = 1-2 weeks of integration. Zerodha first (25% retail share), then expand.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launch strategy: </a:t>
            </a:r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for instant Day-1 coverage → AA for smooth UX at 50K users → Broker APIs for execution at 500K. Each layer earns the right to the next.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The full Arjun journey, in 90 seconds.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32004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80160"/>
            <a:ext cx="32004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371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13716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sahitax.com/dashboard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Arjun's Tax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2025-26  ·  Updated Oct 20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88720" y="2194560"/>
            <a:ext cx="283464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0604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STCG: ₹17,500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06040" y="2651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LTCG: ₹35,000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606040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 exemption)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holdings (8)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3383280"/>
            <a:ext cx="283464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3383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33172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7180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29000" y="3383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188720" y="3611880"/>
            <a:ext cx="2834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2728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31720" y="3611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3611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₹1.45L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3611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+₹25K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88720" y="3858768"/>
            <a:ext cx="283464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Idea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31720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1800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29000" y="38587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−₹24K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88720" y="4105656"/>
            <a:ext cx="2834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105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31720" y="4105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71800" y="4105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29000" y="41056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−₹12K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0" y="4352544"/>
            <a:ext cx="283464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52728" y="43525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31720" y="43525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71800" y="43525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29000" y="4352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−₹13K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88720" y="4599432"/>
            <a:ext cx="2834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2728" y="4599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31720" y="4599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971800" y="4599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₹1.08L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29000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+₹12K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0584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Tax Dashboard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584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CAS, computes live tax position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80560" y="1280160"/>
            <a:ext cx="32004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1280160"/>
            <a:ext cx="32004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1371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90872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9744" y="13716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sahitax.com/harvest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1645920"/>
            <a:ext cx="28346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754880" y="1847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₹3,500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667512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trades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1993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7512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risk added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63440" y="2560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harvest plan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2834640"/>
            <a:ext cx="28346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27448" y="2898648"/>
            <a:ext cx="411480" cy="2194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27448" y="2898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193792" y="28712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Idea (2,000)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93792" y="30175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₹12K loss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663440" y="3218688"/>
            <a:ext cx="28346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27448" y="3282696"/>
            <a:ext cx="41148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27448" y="32826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193792" y="32552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Bharti Airtel (25)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93792" y="3401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exposure preserved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663440" y="3602736"/>
            <a:ext cx="28346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27448" y="3666744"/>
            <a:ext cx="411480" cy="2194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27448" y="366674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193792" y="36393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(25)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93792" y="37856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₹6.5K loss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663440" y="3986784"/>
            <a:ext cx="28346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27448" y="4050792"/>
            <a:ext cx="41148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27448" y="40507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193792" y="4023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(30)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93792" y="41696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New-age tech beta match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663440" y="4617720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all 4 trades →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4805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Harvest Plan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448056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execution. Replacement stocks auto-matched.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955280" y="1280160"/>
            <a:ext cx="32004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55280" y="1280160"/>
            <a:ext cx="32004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46720" y="1371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65592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84464" y="13716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039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sahitax.com/wrapped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183880" y="1737360"/>
            <a:ext cx="2743200" cy="29718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83880" y="1737360"/>
            <a:ext cx="274320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2104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2025-26 WRAPPED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321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you saved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32104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₹3,500</a:t>
            </a:r>
            <a:endParaRPr lang="en-US" sz="4000" dirty="0"/>
          </a:p>
        </p:txBody>
      </p:sp>
      <p:sp>
        <p:nvSpPr>
          <p:cNvPr id="100" name="Text 98"/>
          <p:cNvSpPr/>
          <p:nvPr/>
        </p:nvSpPr>
        <p:spPr>
          <a:xfrm>
            <a:off x="832104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tax this year.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321040" y="3520440"/>
            <a:ext cx="24688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21040" y="3657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CARRY-FORWARD BANKED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32104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₹8,000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8321040" y="4114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for 8 years against future gains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21040" y="4160520"/>
            <a:ext cx="2468880" cy="32004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2104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 WhatsApp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8321040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ITR Schedule CG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95528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Year-End Wrapped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795528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WhatsApp-shareable. Worst portfolio = best marketing.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0A0A0A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walkthrough  ·  </a:t>
            </a:r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sahitax.com/demo</a:t>
            </a:r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Try with Arjun's portfolio (no signup)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can't I just paste my portfolio into ChatGPT?"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smartest objection a reviewer will raise. Here's why a generic LLM — or a Claude Skill / Custom GPT — fundamentally cannot do this job.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3383280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LLM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·  Claude  ·  Custom GPT  ·  Claude Skill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661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TAX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rule engine + LLM explanation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STATE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423160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Stateless. Forgets you next session. Cannot track 8-year carry-forwards across years.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423160"/>
            <a:ext cx="35661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4688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state. Tracks every booked loss, applies oldest-first across 8 FYs automatically.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40233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900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MARKET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990088"/>
            <a:ext cx="33832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9008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035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prices. Hallucinates current NAVs and cost basis. Trained data is months old.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38160" y="2990088"/>
            <a:ext cx="3566160" cy="566928"/>
          </a:xfrm>
          <a:prstGeom prst="rect">
            <a:avLst/>
          </a:prstGeom>
          <a:solidFill>
            <a:srgbClr val="DDF1E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99008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3920" y="303580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NSE/BSE/AMFI feeds in real time. Cost basis verified from CAS / Account Aggregator.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570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570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557016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5570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360273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→ different answer. Temperature randomness. Drifts across model versions.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3557016"/>
            <a:ext cx="35661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5570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3920" y="36027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rule engine. LLM only explains the decision, never makes 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123944"/>
            <a:ext cx="40233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239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4123944"/>
            <a:ext cx="33832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412394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7760" y="41696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to sell. You manually copy 4 trades into Zerodha. Half of users never finish.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38160" y="4123944"/>
            <a:ext cx="3566160" cy="566928"/>
          </a:xfrm>
          <a:prstGeom prst="rect">
            <a:avLst/>
          </a:prstGeom>
          <a:solidFill>
            <a:srgbClr val="DDF1E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412394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3920" y="41696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execution via Kite Connect. Order fires; replacement bought; carry-forward logged.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69087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690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 LAW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4690872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69087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37760" y="47365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tax knowledge. Confidently wrong on Section 94(7), 94(8), bed-and-breakfast rules.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38160" y="4690872"/>
            <a:ext cx="35661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469087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03920" y="47365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encodes Section 74/94 nuance. CA-firm audited. ITR Schedule CFL auto-generated.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5257800"/>
            <a:ext cx="40233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5257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0" y="5257800"/>
            <a:ext cx="33832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5257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37760" y="53035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OpenAI/Anthropic TOS: "output may be inaccurate." Get a tax notice — you're on your own.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38160" y="5257800"/>
            <a:ext cx="3566160" cy="566928"/>
          </a:xfrm>
          <a:prstGeom prst="rect">
            <a:avLst/>
          </a:prstGeom>
          <a:solidFill>
            <a:srgbClr val="DDF1E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5257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03920" y="530352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SEBI-RIA partnership. CA review on high-value cases. Errors-and-omissions insurance.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the explanation layer, not the decision layer. </a:t>
            </a:r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deterministic engine that does TLH correctly — and use Claude to make it sound human.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1.5cr power users today, doubling every 2.5 years.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51560" y="1325880"/>
            <a:ext cx="10058400" cy="868680"/>
          </a:xfrm>
          <a:prstGeom prst="rect">
            <a:avLst/>
          </a:prstGeom>
          <a:solidFill>
            <a:srgbClr val="FAFAFA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325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 crore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520440" y="13258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accounts in India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252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359152"/>
            <a:ext cx="8686800" cy="868680"/>
          </a:xfrm>
          <a:prstGeom prst="rect">
            <a:avLst/>
          </a:prstGeom>
          <a:solidFill>
            <a:srgbClr val="DDF1ED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9.25 crore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0" y="23591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 accounts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2359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ITR-2 filers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3392424"/>
            <a:ext cx="7315200" cy="868680"/>
          </a:xfrm>
          <a:prstGeom prst="rect">
            <a:avLst/>
          </a:prstGeom>
          <a:solidFill>
            <a:srgbClr val="B2DFD6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39242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 crore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339242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 filers FY 2024-25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339242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Tax-aware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4425696"/>
            <a:ext cx="5943600" cy="868680"/>
          </a:xfrm>
          <a:prstGeom prst="rect">
            <a:avLst/>
          </a:prstGeom>
          <a:solidFill>
            <a:srgbClr val="0F766E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4256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crore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442569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ITR-2 filers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42569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TAM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685800"/>
          </a:xfrm>
          <a:prstGeom prst="rect">
            <a:avLst/>
          </a:prstGeom>
          <a:solidFill>
            <a:srgbClr val="0A0A0A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897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ITR-2 filings grew </a:t>
            </a:r>
            <a:pPr algn="ctr"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+34.69% YoY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FY 2024-25 — fastest-growing ITR category in India.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 — sizing the ₹ pool, not just the user pool.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tax money is actually sitting unclaimed by retail India every year? And how much of it can a 1%-of-tax-saved pricing model realistically capture?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MARKET SIZING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ITR-2 filers (capital gains)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crore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CBDT FY24-25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6692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realized capital gains per filer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₹2.3 lakh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blended estimate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cap-gains tax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STCG 20% + LTCG 12.5% mix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6692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paid on retail cap-gains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₹52,500 cr / yr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cr × ₹35K avg tax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5669280" cy="502920"/>
          </a:xfrm>
          <a:prstGeom prst="rect">
            <a:avLst/>
          </a:prstGeom>
          <a:solidFill>
            <a:srgbClr val="F0FDF4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harvestable losses (~30%)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 cr / yr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 losses available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6285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HARVESTABLE TAX-SAVINGS POOL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REVENUE CAPTURE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2011680"/>
            <a:ext cx="5303520" cy="960120"/>
          </a:xfrm>
          <a:prstGeom prst="rect">
            <a:avLst/>
          </a:prstGeom>
          <a:solidFill>
            <a:srgbClr val="FAFAFA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MODEL: 1% of tax saved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Performance-fee structure (like HNI PMS firms). User pays only on rupees actually saved — aligns incentives perfectly. Floor: ₹499/yr Premium tier covers users with smaller savings.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108960"/>
            <a:ext cx="530352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@ 1%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42900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market capture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ceiling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4128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₹150 cr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3886200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in 5 years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bull case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 cr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4343400"/>
            <a:ext cx="5303520" cy="457200"/>
          </a:xfrm>
          <a:prstGeom prst="rect">
            <a:avLst/>
          </a:prstGeom>
          <a:solidFill>
            <a:srgbClr val="F0FDF4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 3 years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0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Y3 target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4128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 cr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0" y="4800600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in 18 months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MVP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4128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₹7.5 cr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0800" y="5303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1%-of-tax-saved is one revenue stream. Layered on top of ₹499/yr Premium + ₹999 Vault + B2B CA partnerships, total Y3 ARR reaches ~₹230 cr (Slide 14).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crore is sitting unclaimed by retail India every year. </a:t>
            </a:r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capturing 1% of 10% of that pool puts Sahi Tax at ₹15 cr ARR — and we're just getting started.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we're building for.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2900" y="1280160"/>
            <a:ext cx="370332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1280160"/>
            <a:ext cx="370332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ersona_arj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202" y="1481328"/>
            <a:ext cx="790715" cy="1417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50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ARJUN, 30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150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IT, Bengaluru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100" y="3749040"/>
            <a:ext cx="27889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" y="38862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₹6L portfolio, active rebalancer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₹8K-15K/year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500" y="4892040"/>
            <a:ext cx="324612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4892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crore segment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29100" y="1280160"/>
            <a:ext cx="370332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29100" y="1280160"/>
            <a:ext cx="370332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1" descr="persona_priy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726" y="1481328"/>
            <a:ext cx="910069" cy="1417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770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35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45770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saver, Indore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86300" y="3749040"/>
            <a:ext cx="27889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03420" y="38862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₹3L portfolio, just sold first MF batch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₹3K-8K/year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457700" y="4892040"/>
            <a:ext cx="324612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57700" y="4892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45770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crore segment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15300" y="1280160"/>
            <a:ext cx="370332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15300" y="1280160"/>
            <a:ext cx="370332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7" name="Image 2" descr="persona_shar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602" y="1481328"/>
            <a:ext cx="790715" cy="1417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4390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UNCLE, 58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834390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portfolio, Pune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572500" y="3749040"/>
            <a:ext cx="27889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89620" y="38862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demats, untracked carry-forwards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One-time recovery: ₹50K+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343900" y="4892040"/>
            <a:ext cx="324612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43900" y="4892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TIER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34390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crore segment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100mn adoption is met by Arjun + Priya alone. Sharma Uncle is the high-WTP one-time-buyer pool that funds growth.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grow without burning capital.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MARCH-MADNESS VIRAL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gets a personalized 'Tax Saved Card' in March. WhatsApp-shareable. Worst portfolios become best marketing.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80160"/>
            <a:ext cx="91440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PARTNERSHIP FLYWHEEL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partner CA firms refer their clients. We pre-fill their ITR data. B2B distribution moat.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4864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91440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CARRY-FORWARD AUDIT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 finds unused losses in past ITRs. 25-30% conversion to premium.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54864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91440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+ REDDIT SEEDING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Kamra / Akshat Shrivastava audience. UGC writes itself ('I saved ₹X with this AI').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0A0A0A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blended CAC: ₹15-30. </a:t>
            </a:r>
            <a:pPr algn="ctr" indent="0" marL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 spends ₹500+. We earn it back in the first harvest.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— we save more than we charge, guaranteed.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297680"/>
                <a:gridCol w="13716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Tax Brain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dashboard, alerts, ITR helper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crore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funnel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Harvester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Auto-execution, replacement engine, carry-forward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lakh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~₹150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Past-ITR audit, family/HUF optimization, CA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lakh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~₹50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(CA partnerships)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processing for CA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~₹30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11247120" cy="868680"/>
          </a:xfrm>
          <a:prstGeom prst="rect">
            <a:avLst/>
          </a:prstGeom>
          <a:solidFill>
            <a:srgbClr val="0F766E"/>
          </a:solidFill>
          <a:ln w="3175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262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Y3 ARR: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~₹230 crore. </a:t>
            </a:r>
            <a:pPr algn="ctr" indent="0" marL="0">
              <a:buNone/>
            </a:pPr>
            <a:r>
              <a:rPr lang="en-US" sz="22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Path-to-profitable within 36 months.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save you more in tax than we charge — guaranteed, or it's free."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survives competition.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4475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alignment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earn on transactions. We earn when we save tax. They cannot honestly build this.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31343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22402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94/74 + 8-year tracking = the most-tested rule engine in India = high switching cost.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8211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distribution moat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31089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CA workflows. Switching causes ITR disruption. Sticky B2B + B2B2C lock-in.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5079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977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tax behavior across millions of portfolios. Unique 'Indian retail tax mistake graph.'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91947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moat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3400" y="4846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First-to-market for 'India's tax-honest fintech.' Cred-style brand pull within 18 months.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is the moat. Incumbents can't realign without breaking their own business model.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kill us — and how we survive.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554480"/>
                <a:gridCol w="5577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 flags us as unregistered advisor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as 'tools + education'; partner with RIA Day 1; apply for own RIA license in parallel.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law changes (LTCG/STCG, carry-forward)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rule engine; tax law rarely retroactive.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API access blocked or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advisory-only; add Zerodha Kite Connect first, expand later.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hallucination → wrong tax advice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engine is deterministic, NOT LLM-generated. AI only explains. CA review on high-value cases.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gap (only return in March)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triggers naturally on every gain booked; alerts feel like Spotify Wrapped.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Groww launches 'Portfolio Health Score'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version protects trading revenue → looks conflicted by design. Our positioning sharpens.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 risk has a deterministic mitigation. The compliance + RIA path is non-negotiable from Day 1.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TLH — the year-round AI tax advisor.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 wins by being the BEST at tax-loss harvesting first. From that trust, we expand into proactive year-round tax guidance — triggered by life events the user is already living through.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" y="1691640"/>
            <a:ext cx="370332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" y="1874520"/>
            <a:ext cx="169164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780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Tax-Loss Harvesting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578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product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" y="301752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" y="3108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 uploads CAS or connects broker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5780" y="3383280"/>
            <a:ext cx="333756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" y="3447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◤ Sahi Tax says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508" y="363931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found ₹49K in losses across your portfolio. Save ₹3,500 this FY in 1 tap. Plus ₹8K banked for 8 years."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" y="47548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" y="49560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gains optimization (Sec 74)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8-year carry-forward tracking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ITR-2 Schedule CG auto-fill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" y="5669280"/>
            <a:ext cx="333756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" y="5669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1.5 cr ITR-2 filers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29100" y="1691640"/>
            <a:ext cx="370332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1980" y="1874520"/>
            <a:ext cx="169164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19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11980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Optimizer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1198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year-round nudges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11980" y="301752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1980" y="3108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AA detects salary credit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11980" y="3383280"/>
            <a:ext cx="333756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1708" y="3447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◤ Sahi Tax says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1708" y="363931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March salary just credited (₹1.2L). You can still invest ₹85K in ELSS by March 31 to save ₹26,500 in tax this FY."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11980" y="47548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11980" y="49560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80C / 80D / HRA optimization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vs old regime live comparison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RSU vesting + bonus tax planning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11980" y="5669280"/>
            <a:ext cx="333756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1980" y="5669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expands to: 7 cr salaried filers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15300" y="1691640"/>
            <a:ext cx="370332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8180" y="1874520"/>
            <a:ext cx="169164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81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98180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AI Advisor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9818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year-round CFO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98180" y="3017520"/>
            <a:ext cx="333756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8180" y="3108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Any major financial decision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98180" y="3383280"/>
            <a:ext cx="333756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07908" y="3447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◤ Sahi Tax says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07908" y="363931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"Thinking of selling your flat? Here's your tax: ₹4.2L LTCG. Reinvest in 54EC bonds within 6 months → save ₹84K. Want me to set a reminder?"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98180" y="47548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8180" y="49560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tax simulation on decisions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HUF / family / NRI tax optimization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ITR auto-prep across all schedules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98180" y="5669280"/>
            <a:ext cx="333756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98180" y="5669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8.56 cr ITR filers (5x current)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pattern: </a:t>
            </a:r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→ WhatsApp Business. Razorpay → Razorpay X. Cred → Cred Mint. </a:t>
            </a:r>
            <a:pPr algn="ctr" indent="0" marL="0">
              <a:buNone/>
            </a:pPr>
            <a:r>
              <a:rPr lang="en-US" sz="11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trust on TLH, expand from there.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can build this.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the manual version at Darashaw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SEBI-compliant 5-signal risk framework. Sharpe Ratio scoring on equity, debt, hybrid funds for 50+ clients.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already built the analyst layer Sahi Tax automates — by hand, for the rich. Now I'm scaling it for everyone.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chops at InMobi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recovered $100K in revenue leakage. KPI alerting on Databricks. Doubled segment revenue $100K → $200K in 4 months.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how to ship instrumented financial products that scale.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54864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depth — BITS Pilani, Minor in Finance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&amp; Risk Management, Security Analysis &amp; Portfolio Management, Business Analysis &amp; Valuation.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LinkedIn-deep. Course-deep. I read Section 74 in the original 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4864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33756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Bharat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PARC's Digital Literacy Program for rural women, Oct 2023 – Aug 2024.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sat across from the user this product serves. Vernacular UX is a default, not a feature.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0A0A0A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Darashaw, I was the analyst doing this manually for 50 wealthy clients. </a:t>
            </a:r>
            <a:pPr algn="ctr" indent="0" marL="0">
              <a:buNone/>
            </a:pPr>
            <a:r>
              <a:rPr lang="en-US" sz="1400" b="1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Tax is that work — automated, scaled, made affordable for 1.5 crore Indians who never had access.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Unit Economics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(blended)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₹15-30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23760" y="1554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Groww's ₹500+ via viral + CA channels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Cost-to-serve free 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₹3/year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+ AA infra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of premium user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3200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average retention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23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ratio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60-100x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4023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best in Indian fintech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46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846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4846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at 15% premium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Technical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+ shadcn/ui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PWA. No native app needed for v1.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FAFAFA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PARSING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pdfplumber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NSDL/CDSL CAS format.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1247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Sahamati framework (via Finvu)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RBI-approved consent rails. Launch partner: Finvu.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solidFill>
            <a:srgbClr val="FAFAFA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by CA firm. Section 74/94 logic encoded.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4160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decides. Only explains rule-engine output.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solidFill>
            <a:srgbClr val="FAFAFA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46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ROADMAP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846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→ Upstox → Angel One → ICICI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4846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Connect first (25% retail share).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— Where we sit.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7772400" cy="4114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417320"/>
            <a:ext cx="0" cy="4114800"/>
          </a:xfrm>
          <a:prstGeom prst="line">
            <a:avLst/>
          </a:prstGeom>
          <a:noFill/>
          <a:ln w="12700">
            <a:solidFill>
              <a:srgbClr val="0A0A0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63040" y="3474720"/>
            <a:ext cx="777240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645920" y="1600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TAX-AWARE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MONITORING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2631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ClearTax  ·  Quicko  ·  Your 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9240" y="1417320"/>
            <a:ext cx="3886200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600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TAX-AWARE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MONITORING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22631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TAX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3657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TAX-AWARE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MONITORING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43205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INDmoney  ·  Smallcase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657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TAX-AWARE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MONITORING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43205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Groww  ·  Zerodha  ·  Upstox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 rot="-5400000">
            <a:off x="45720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TAX-AWARE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5669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 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alone in the high-high quadrant. That's the moat.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TAX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D — Sources.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55448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4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DATA 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F&amp;O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retail F&amp;O traders incurred losses; ₹1.8L cr cumulative losses FY22-24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 crore active SIP accounts; ₹29,361 cr SIP inflows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CDSL/NSDL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Depository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December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 crore total demat accounts in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ITR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2024-25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 crore ITR filers; ITR-2 grew 34.69% YoY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 74, 94(7), 94(8)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of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Carry-forward, dividend stripping, bonus stripping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PLFS Annual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 crore employed workforce; 23.6% regular salaried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sahitax.com  ·  Mirnal Gupta  ·  BITS Pilani  ·  Zupee Thesis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Sahi Tax — Zupee Thesis 2026</dc:title>
  <dc:subject>PptxGenJS Presentation</dc:subject>
  <dc:creator>Mirnal Gupta</dc:creator>
  <cp:lastModifiedBy>Mirnal Gupta</cp:lastModifiedBy>
  <cp:revision>1</cp:revision>
  <dcterms:created xsi:type="dcterms:W3CDTF">2026-05-03T17:18:32Z</dcterms:created>
  <dcterms:modified xsi:type="dcterms:W3CDTF">2026-05-03T17:18:32Z</dcterms:modified>
</cp:coreProperties>
</file>